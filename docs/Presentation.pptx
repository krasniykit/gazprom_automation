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57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76A"/>
    <a:srgbClr val="111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7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37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6AC7-66D8-4B07-9A7A-A08218B7353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DCE33-6920-49D9-A09E-6FACE09F1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286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6AC7-66D8-4B07-9A7A-A08218B7353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DCE33-6920-49D9-A09E-6FACE09F1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92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6AC7-66D8-4B07-9A7A-A08218B7353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DCE33-6920-49D9-A09E-6FACE09F1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43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6AC7-66D8-4B07-9A7A-A08218B7353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DCE33-6920-49D9-A09E-6FACE09F1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9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6AC7-66D8-4B07-9A7A-A08218B7353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DCE33-6920-49D9-A09E-6FACE09F1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77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6AC7-66D8-4B07-9A7A-A08218B7353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DCE33-6920-49D9-A09E-6FACE09F1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693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6AC7-66D8-4B07-9A7A-A08218B7353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DCE33-6920-49D9-A09E-6FACE09F1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9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6AC7-66D8-4B07-9A7A-A08218B7353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DCE33-6920-49D9-A09E-6FACE09F1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61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6AC7-66D8-4B07-9A7A-A08218B7353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DCE33-6920-49D9-A09E-6FACE09F1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318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6AC7-66D8-4B07-9A7A-A08218B7353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DCE33-6920-49D9-A09E-6FACE09F1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261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6AC7-66D8-4B07-9A7A-A08218B7353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DCE33-6920-49D9-A09E-6FACE09F1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15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96AC7-66D8-4B07-9A7A-A08218B7353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DCE33-6920-49D9-A09E-6FACE09F1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70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8.png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7.jpe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12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Relationship Id="rId1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12" Type="http://schemas.openxmlformats.org/officeDocument/2006/relationships/image" Target="../media/image1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2.png"/><Relationship Id="rId5" Type="http://schemas.openxmlformats.org/officeDocument/2006/relationships/image" Target="../media/image15.png"/><Relationship Id="rId10" Type="http://schemas.openxmlformats.org/officeDocument/2006/relationships/image" Target="../media/image21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0.png"/><Relationship Id="rId3" Type="http://schemas.openxmlformats.org/officeDocument/2006/relationships/image" Target="../media/image7.jpeg"/><Relationship Id="rId7" Type="http://schemas.openxmlformats.org/officeDocument/2006/relationships/image" Target="../media/image16.png"/><Relationship Id="rId12" Type="http://schemas.openxmlformats.org/officeDocument/2006/relationships/image" Target="../media/image13.png"/><Relationship Id="rId2" Type="http://schemas.openxmlformats.org/officeDocument/2006/relationships/image" Target="../media/image22.png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2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19.png"/><Relationship Id="rId4" Type="http://schemas.openxmlformats.org/officeDocument/2006/relationships/image" Target="../media/image8.png"/><Relationship Id="rId9" Type="http://schemas.openxmlformats.org/officeDocument/2006/relationships/image" Target="../media/image18.png"/><Relationship Id="rId1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1.png"/><Relationship Id="rId3" Type="http://schemas.openxmlformats.org/officeDocument/2006/relationships/image" Target="../media/image7.jpeg"/><Relationship Id="rId7" Type="http://schemas.openxmlformats.org/officeDocument/2006/relationships/image" Target="../media/image18.png"/><Relationship Id="rId12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5" Type="http://schemas.openxmlformats.org/officeDocument/2006/relationships/image" Target="../media/image1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0.png"/><Relationship Id="rId3" Type="http://schemas.openxmlformats.org/officeDocument/2006/relationships/image" Target="../media/image26.png"/><Relationship Id="rId7" Type="http://schemas.openxmlformats.org/officeDocument/2006/relationships/image" Target="../media/image15.png"/><Relationship Id="rId12" Type="http://schemas.openxmlformats.org/officeDocument/2006/relationships/image" Target="../media/image16.png"/><Relationship Id="rId2" Type="http://schemas.openxmlformats.org/officeDocument/2006/relationships/image" Target="../media/image25.png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20.png"/><Relationship Id="rId10" Type="http://schemas.openxmlformats.org/officeDocument/2006/relationships/image" Target="../media/image12.png"/><Relationship Id="rId4" Type="http://schemas.openxmlformats.org/officeDocument/2006/relationships/image" Target="../media/image7.jpeg"/><Relationship Id="rId9" Type="http://schemas.openxmlformats.org/officeDocument/2006/relationships/image" Target="../media/image19.png"/><Relationship Id="rId1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12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0.png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Relationship Id="rId1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593FDC-9614-69EB-248A-792239B08DA9}"/>
              </a:ext>
            </a:extLst>
          </p:cNvPr>
          <p:cNvSpPr txBox="1"/>
          <p:nvPr/>
        </p:nvSpPr>
        <p:spPr>
          <a:xfrm>
            <a:off x="2461229" y="288503"/>
            <a:ext cx="7269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err="1" smtClean="0">
                <a:solidFill>
                  <a:srgbClr val="23376A"/>
                </a:solidFill>
                <a:latin typeface="Montserrat" panose="020B0604020202020204" charset="-52"/>
              </a:rPr>
              <a:t>Цифровизация</a:t>
            </a:r>
            <a:r>
              <a:rPr lang="ru-RU" sz="3600" b="1" dirty="0" smtClean="0">
                <a:solidFill>
                  <a:srgbClr val="23376A"/>
                </a:solidFill>
                <a:latin typeface="Montserrat" panose="020B0604020202020204" charset="-52"/>
              </a:rPr>
              <a:t> паспортов оборудования</a:t>
            </a:r>
            <a:endParaRPr lang="ru-RU" sz="3600" b="1" dirty="0">
              <a:solidFill>
                <a:srgbClr val="23376A"/>
              </a:solidFill>
              <a:latin typeface="Montserrat" panose="020B0604020202020204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05DCB-B1F0-BF7E-FFEF-7BEBFA859A8D}"/>
              </a:ext>
            </a:extLst>
          </p:cNvPr>
          <p:cNvSpPr txBox="1"/>
          <p:nvPr/>
        </p:nvSpPr>
        <p:spPr>
          <a:xfrm>
            <a:off x="3748309" y="5566737"/>
            <a:ext cx="4713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23376A"/>
                </a:solidFill>
                <a:latin typeface="Montserrat" panose="020B0604020202020204" charset="-52"/>
              </a:rPr>
              <a:t>Хакатон «</a:t>
            </a:r>
            <a:r>
              <a:rPr lang="ru-RU" sz="2400" b="1" dirty="0" smtClean="0">
                <a:solidFill>
                  <a:srgbClr val="23376A"/>
                </a:solidFill>
                <a:latin typeface="Montserrat" panose="020B0604020202020204" charset="-52"/>
              </a:rPr>
              <a:t>ИИ-Автоматизация»</a:t>
            </a:r>
          </a:p>
          <a:p>
            <a:pPr algn="ctr"/>
            <a:r>
              <a:rPr lang="ru-RU" sz="2400" b="1" dirty="0" smtClean="0">
                <a:solidFill>
                  <a:srgbClr val="23376A"/>
                </a:solidFill>
                <a:latin typeface="Montserrat" panose="020B0604020202020204" charset="-52"/>
              </a:rPr>
              <a:t>2026</a:t>
            </a:r>
            <a:endParaRPr lang="ru-RU" sz="2400" b="1" dirty="0">
              <a:solidFill>
                <a:srgbClr val="23376A"/>
              </a:solidFill>
              <a:latin typeface="Montserrat" panose="020B0604020202020204" charset="-52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60" y="948448"/>
            <a:ext cx="4961103" cy="4961103"/>
          </a:xfrm>
          <a:prstGeom prst="rect">
            <a:avLst/>
          </a:prstGeom>
        </p:spPr>
      </p:pic>
      <p:pic>
        <p:nvPicPr>
          <p:cNvPr id="1026" name="Picture 2" descr="ПАО &quot;Газпром автоматизация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24" y="2443011"/>
            <a:ext cx="3490957" cy="171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МИРЭА — Российский технологический университет — Википеди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615" y="1857374"/>
            <a:ext cx="314325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03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8">
            <a:extLst>
              <a:ext uri="{FF2B5EF4-FFF2-40B4-BE49-F238E27FC236}">
                <a16:creationId xmlns:a16="http://schemas.microsoft.com/office/drawing/2014/main" id="{96A0E5A7-C073-B95A-7EE8-D4527AB17657}"/>
              </a:ext>
            </a:extLst>
          </p:cNvPr>
          <p:cNvSpPr/>
          <p:nvPr/>
        </p:nvSpPr>
        <p:spPr>
          <a:xfrm>
            <a:off x="8419063" y="1711372"/>
            <a:ext cx="2899745" cy="289974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63500" cap="flat">
            <a:solidFill>
              <a:srgbClr val="23376A"/>
            </a:solidFill>
            <a:prstDash val="solid"/>
            <a:miter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350" kern="12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Прямоугольник: скругленные углы 10">
            <a:extLst>
              <a:ext uri="{FF2B5EF4-FFF2-40B4-BE49-F238E27FC236}">
                <a16:creationId xmlns:a16="http://schemas.microsoft.com/office/drawing/2014/main" id="{A26291A6-565B-C675-3603-9AC3068A2772}"/>
              </a:ext>
            </a:extLst>
          </p:cNvPr>
          <p:cNvSpPr/>
          <p:nvPr/>
        </p:nvSpPr>
        <p:spPr>
          <a:xfrm>
            <a:off x="4646127" y="1623527"/>
            <a:ext cx="2899745" cy="289974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63500" cap="flat">
            <a:solidFill>
              <a:srgbClr val="23376A"/>
            </a:solidFill>
            <a:prstDash val="solid"/>
            <a:miter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350" kern="12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Прямоугольник: скругленные углы 11">
            <a:extLst>
              <a:ext uri="{FF2B5EF4-FFF2-40B4-BE49-F238E27FC236}">
                <a16:creationId xmlns:a16="http://schemas.microsoft.com/office/drawing/2014/main" id="{94CA7B64-E327-F0E6-BED2-ED4969CA9F39}"/>
              </a:ext>
            </a:extLst>
          </p:cNvPr>
          <p:cNvSpPr/>
          <p:nvPr/>
        </p:nvSpPr>
        <p:spPr>
          <a:xfrm>
            <a:off x="873191" y="1711372"/>
            <a:ext cx="2899745" cy="289974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  <a:ln w="63500" cap="flat">
            <a:solidFill>
              <a:srgbClr val="23376A"/>
            </a:solidFill>
            <a:prstDash val="solid"/>
            <a:miter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350" kern="12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57877" y="307057"/>
            <a:ext cx="4076244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267" b="1" dirty="0" smtClean="0">
                <a:solidFill>
                  <a:srgbClr val="23376A"/>
                </a:solidFill>
                <a:latin typeface="Montserrat" panose="020B0604020202020204" charset="-52"/>
              </a:rPr>
              <a:t>Наша команда</a:t>
            </a:r>
            <a:endParaRPr lang="ru-RU" sz="4267" b="1" dirty="0">
              <a:solidFill>
                <a:srgbClr val="23376A"/>
              </a:solidFill>
              <a:latin typeface="Montserrat" panose="020B0604020202020204" charset="-5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0188" y="4713957"/>
            <a:ext cx="3205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smtClean="0">
                <a:solidFill>
                  <a:srgbClr val="23376A"/>
                </a:solidFill>
                <a:latin typeface="Montserrat" panose="020B0604020202020204" charset="-52"/>
              </a:rPr>
              <a:t>Мкртчян Георгий</a:t>
            </a:r>
            <a:endParaRPr lang="ru-RU" sz="2800" b="1" dirty="0">
              <a:solidFill>
                <a:srgbClr val="23376A"/>
              </a:solidFill>
              <a:latin typeface="Montserrat" panose="020B0604020202020204" charset="-5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91549" y="4716214"/>
            <a:ext cx="300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err="1" smtClean="0">
                <a:solidFill>
                  <a:srgbClr val="23376A"/>
                </a:solidFill>
                <a:latin typeface="Montserrat" panose="020B0604020202020204" charset="-52"/>
              </a:rPr>
              <a:t>Чульдум</a:t>
            </a:r>
            <a:r>
              <a:rPr lang="ru-RU" sz="2800" b="1" dirty="0" smtClean="0">
                <a:solidFill>
                  <a:srgbClr val="23376A"/>
                </a:solidFill>
                <a:latin typeface="Montserrat" panose="020B0604020202020204" charset="-52"/>
              </a:rPr>
              <a:t> </a:t>
            </a:r>
            <a:r>
              <a:rPr lang="ru-RU" sz="2800" b="1" dirty="0" err="1" smtClean="0">
                <a:solidFill>
                  <a:srgbClr val="23376A"/>
                </a:solidFill>
                <a:latin typeface="Montserrat" panose="020B0604020202020204" charset="-52"/>
              </a:rPr>
              <a:t>Алдар</a:t>
            </a:r>
            <a:endParaRPr lang="ru-RU" sz="2800" b="1" dirty="0">
              <a:solidFill>
                <a:srgbClr val="23376A"/>
              </a:solidFill>
              <a:latin typeface="Montserrat" panose="020B0604020202020204" charset="-5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51198" y="4713957"/>
            <a:ext cx="3835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smtClean="0">
                <a:solidFill>
                  <a:srgbClr val="23376A"/>
                </a:solidFill>
                <a:latin typeface="Montserrat" panose="020B0604020202020204" charset="-52"/>
              </a:rPr>
              <a:t>Кононыхин Николай</a:t>
            </a:r>
            <a:endParaRPr lang="ru-RU" sz="2800" b="1" dirty="0">
              <a:solidFill>
                <a:srgbClr val="23376A"/>
              </a:solidFill>
              <a:latin typeface="Montserrat" panose="020B0604020202020204" charset="-5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0188" y="5237177"/>
            <a:ext cx="29673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Montserrat" panose="020B0604020202020204" charset="-52"/>
              </a:rPr>
              <a:t>Team-lead.</a:t>
            </a:r>
            <a:endParaRPr lang="ru-RU" sz="2000" b="1" dirty="0" smtClean="0">
              <a:latin typeface="Montserrat" panose="020B0604020202020204" charset="-52"/>
            </a:endParaRPr>
          </a:p>
          <a:p>
            <a:r>
              <a:rPr lang="en-US" sz="2000" b="1" dirty="0" smtClean="0">
                <a:latin typeface="Montserrat" panose="020B0604020202020204" charset="-52"/>
              </a:rPr>
              <a:t>Frontend </a:t>
            </a:r>
            <a:r>
              <a:rPr lang="ru-RU" sz="2000" b="1" dirty="0" smtClean="0">
                <a:latin typeface="Montserrat" panose="020B0604020202020204" charset="-52"/>
              </a:rPr>
              <a:t>разработчик</a:t>
            </a:r>
            <a:endParaRPr lang="ru-RU" sz="2000" b="1" dirty="0">
              <a:latin typeface="Montserrat" panose="020B0604020202020204" charset="-5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8521" y="5237177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Montserrat" panose="020B0604020202020204" charset="-52"/>
              </a:rPr>
              <a:t>ML-engineer</a:t>
            </a:r>
            <a:endParaRPr lang="ru-RU" sz="2000" b="1" dirty="0">
              <a:latin typeface="Montserrat" panose="020B0604020202020204" charset="-5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51198" y="5191010"/>
            <a:ext cx="2925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Montserrat" panose="020B0604020202020204" charset="-52"/>
              </a:rPr>
              <a:t>Backend </a:t>
            </a:r>
            <a:r>
              <a:rPr lang="ru-RU" sz="2000" b="1" dirty="0" smtClean="0">
                <a:latin typeface="Montserrat" panose="020B0604020202020204" charset="-52"/>
              </a:rPr>
              <a:t>разработчик</a:t>
            </a:r>
            <a:endParaRPr lang="ru-RU" sz="2000" b="1" dirty="0">
              <a:latin typeface="Montserrat" panose="020B0604020202020204" charset="-52"/>
            </a:endParaRPr>
          </a:p>
        </p:txBody>
      </p:sp>
      <p:pic>
        <p:nvPicPr>
          <p:cNvPr id="12" name="Рисунок 11" descr="Изображение выглядит как текст, круг, логотип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0A4E0E-0A00-2581-F528-4072FEFF3A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7492" cy="1037492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5" t="22262" r="26158" b="34163"/>
          <a:stretch/>
        </p:blipFill>
        <p:spPr>
          <a:xfrm>
            <a:off x="10995589" y="0"/>
            <a:ext cx="1196411" cy="111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4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Рисунок 3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20" y="5236093"/>
            <a:ext cx="1043944" cy="1043944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0" y="5830191"/>
            <a:ext cx="12192000" cy="1035496"/>
          </a:xfrm>
          <a:prstGeom prst="rect">
            <a:avLst/>
          </a:prstGeom>
          <a:solidFill>
            <a:srgbClr val="2A4D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3" name="Овал 2"/>
          <p:cNvSpPr/>
          <p:nvPr/>
        </p:nvSpPr>
        <p:spPr>
          <a:xfrm>
            <a:off x="369077" y="5165919"/>
            <a:ext cx="1402352" cy="1402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47" y="5236093"/>
            <a:ext cx="1043944" cy="1043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34166" y="307057"/>
            <a:ext cx="3341043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267" b="1" dirty="0">
                <a:solidFill>
                  <a:srgbClr val="23376A"/>
                </a:solidFill>
                <a:latin typeface="Montserrat" panose="020B0604020202020204" charset="-52"/>
              </a:rPr>
              <a:t>ПРОБЛЕМА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676227" y="1680855"/>
            <a:ext cx="4355323" cy="2686535"/>
          </a:xfrm>
          <a:prstGeom prst="roundRect">
            <a:avLst/>
          </a:prstGeom>
          <a:solidFill>
            <a:srgbClr val="11192F"/>
          </a:solidFill>
          <a:ln w="38100">
            <a:solidFill>
              <a:srgbClr val="233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Tx/>
              <a:buChar char="-"/>
            </a:pPr>
            <a:r>
              <a:rPr lang="ru-RU" sz="2400" dirty="0">
                <a:latin typeface="Montserrat" panose="020B0604020202020204" charset="-52"/>
              </a:rPr>
              <a:t>Переписывать все данные руками долго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Montserrat" panose="020B0604020202020204" charset="-52"/>
              </a:rPr>
              <a:t>Внешние решения не могут быть интегрированы с системой компании</a:t>
            </a: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1160452" y="1680854"/>
            <a:ext cx="4355323" cy="2686535"/>
          </a:xfrm>
          <a:prstGeom prst="roundRect">
            <a:avLst/>
          </a:prstGeom>
          <a:solidFill>
            <a:srgbClr val="11192F"/>
          </a:solidFill>
          <a:ln w="38100">
            <a:solidFill>
              <a:srgbClr val="233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Tx/>
              <a:buChar char="-"/>
            </a:pPr>
            <a:r>
              <a:rPr lang="ru-RU" sz="2400" dirty="0">
                <a:latin typeface="Montserrat" panose="020B0604020202020204" charset="-52"/>
              </a:rPr>
              <a:t>Паспорта оборудования приходят в бумажном виде.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Montserrat" panose="020B0604020202020204" charset="-52"/>
              </a:rPr>
              <a:t>Нет общего источника информации обо всем оборудовании</a:t>
            </a:r>
          </a:p>
        </p:txBody>
      </p:sp>
      <p:pic>
        <p:nvPicPr>
          <p:cNvPr id="7" name="Рисунок 6" descr="Изображение выглядит как текст, круг, логотип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2D2E5E-7AA1-91AF-2A50-CA031D6B55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7492" cy="1037492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снимок экрана, Графика, символ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ED0B0C-83F0-6E2B-6A43-FADE5DF30F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06" y="5895657"/>
            <a:ext cx="873287" cy="873287"/>
          </a:xfrm>
          <a:prstGeom prst="rect">
            <a:avLst/>
          </a:prstGeom>
        </p:spPr>
      </p:pic>
      <p:pic>
        <p:nvPicPr>
          <p:cNvPr id="23" name="Рисунок 22" descr="Изображение выглядит как логотип, символ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8754EA-AF62-5E62-AF2F-6B38950FAC9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06" y="5895657"/>
            <a:ext cx="873287" cy="873287"/>
          </a:xfrm>
          <a:prstGeom prst="rect">
            <a:avLst/>
          </a:prstGeom>
        </p:spPr>
      </p:pic>
      <p:pic>
        <p:nvPicPr>
          <p:cNvPr id="30" name="Рисунок 29" descr="Изображение выглядит как График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1C05F7-CD8A-6B5C-0A7B-B24187E947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885" y="5920506"/>
            <a:ext cx="747544" cy="747544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49E4017-3080-40DF-529D-620242D58B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884" y="5920505"/>
            <a:ext cx="747544" cy="747544"/>
          </a:xfrm>
          <a:prstGeom prst="rect">
            <a:avLst/>
          </a:prstGeom>
        </p:spPr>
      </p:pic>
      <p:pic>
        <p:nvPicPr>
          <p:cNvPr id="45" name="Рисунок 44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A4A431-9615-191E-C6D5-5CD563D399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39" y="5848689"/>
            <a:ext cx="960074" cy="960074"/>
          </a:xfrm>
          <a:prstGeom prst="rect">
            <a:avLst/>
          </a:prstGeom>
        </p:spPr>
      </p:pic>
      <p:pic>
        <p:nvPicPr>
          <p:cNvPr id="46" name="Рисунок 45" descr="Изображение выглядит как логотип, Графика, белый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A3E36AB-FB4C-0A1F-86E7-C4F89FF6AE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39" y="5849094"/>
            <a:ext cx="960074" cy="960074"/>
          </a:xfrm>
          <a:prstGeom prst="rect">
            <a:avLst/>
          </a:prstGeom>
        </p:spPr>
      </p:pic>
      <p:pic>
        <p:nvPicPr>
          <p:cNvPr id="47" name="Рисунок 46" descr="Изображение выглядит как символ, снимок экрана, линия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D253894-DDBD-CA66-4A13-916CD9EE1C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6" y="5895657"/>
            <a:ext cx="873287" cy="873287"/>
          </a:xfrm>
          <a:prstGeom prst="rect">
            <a:avLst/>
          </a:prstGeom>
        </p:spPr>
      </p:pic>
      <p:pic>
        <p:nvPicPr>
          <p:cNvPr id="48" name="Рисунок 47" descr="Изображение выглядит как текст, символ, Шрифт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C7F392-27C9-B481-A62A-CA2A88958A1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5" y="5888003"/>
            <a:ext cx="873287" cy="873287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BE6E46D6-5F6E-7EC9-A9F3-7AA3A4FF0A0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43" y="5888004"/>
            <a:ext cx="873287" cy="873287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2CE270FE-425A-5D9D-FE68-0F9CE231BB1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44" y="5888006"/>
            <a:ext cx="873287" cy="873287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174" y="5949115"/>
            <a:ext cx="751061" cy="751061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5" t="22262" r="26158" b="34163"/>
          <a:stretch/>
        </p:blipFill>
        <p:spPr>
          <a:xfrm>
            <a:off x="10995589" y="0"/>
            <a:ext cx="1196411" cy="111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0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5830191"/>
            <a:ext cx="12192000" cy="1035496"/>
          </a:xfrm>
          <a:prstGeom prst="rect">
            <a:avLst/>
          </a:prstGeom>
          <a:solidFill>
            <a:srgbClr val="2A4D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4" name="TextBox 3"/>
          <p:cNvSpPr txBox="1"/>
          <p:nvPr/>
        </p:nvSpPr>
        <p:spPr>
          <a:xfrm>
            <a:off x="1894273" y="260323"/>
            <a:ext cx="8403454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267" b="1" dirty="0">
                <a:solidFill>
                  <a:srgbClr val="23376A"/>
                </a:solidFill>
                <a:latin typeface="Montserrat" panose="020B0604020202020204" charset="-52"/>
              </a:rPr>
              <a:t>Как устроена наша программа</a:t>
            </a: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950182" y="1172634"/>
            <a:ext cx="3093376" cy="1919596"/>
          </a:xfrm>
          <a:prstGeom prst="roundRect">
            <a:avLst/>
          </a:prstGeom>
          <a:solidFill>
            <a:srgbClr val="11192F"/>
          </a:solidFill>
          <a:ln w="38100">
            <a:solidFill>
              <a:srgbClr val="233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bg1"/>
                </a:solidFill>
                <a:latin typeface="Montserrat" panose="020B0604020202020204" charset="-52"/>
              </a:rPr>
              <a:t>В веб приложении загружаете </a:t>
            </a:r>
            <a:r>
              <a:rPr lang="en-US" b="1" dirty="0">
                <a:solidFill>
                  <a:schemeClr val="bg1"/>
                </a:solidFill>
                <a:latin typeface="Montserrat" panose="020B0604020202020204" charset="-52"/>
              </a:rPr>
              <a:t>pdf</a:t>
            </a:r>
            <a:endParaRPr lang="ru-RU" b="1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4549312" y="2469202"/>
            <a:ext cx="3093376" cy="1919596"/>
          </a:xfrm>
          <a:prstGeom prst="roundRect">
            <a:avLst/>
          </a:prstGeom>
          <a:solidFill>
            <a:srgbClr val="11192F"/>
          </a:solidFill>
          <a:ln w="38100">
            <a:solidFill>
              <a:srgbClr val="233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bg1"/>
                </a:solidFill>
                <a:latin typeface="Montserrat" panose="020B0604020202020204" charset="-52"/>
              </a:rPr>
              <a:t>Программа обрабатывает паспорт и возвращает карточку</a:t>
            </a:r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8157105" y="3747272"/>
            <a:ext cx="3093376" cy="1919596"/>
          </a:xfrm>
          <a:prstGeom prst="roundRect">
            <a:avLst/>
          </a:prstGeom>
          <a:solidFill>
            <a:srgbClr val="11192F"/>
          </a:solidFill>
          <a:ln w="38100">
            <a:solidFill>
              <a:srgbClr val="233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bg1"/>
                </a:solidFill>
                <a:latin typeface="Montserrat" panose="020B0604020202020204" charset="-52"/>
              </a:rPr>
              <a:t>Можно изменять поля и выгружать </a:t>
            </a:r>
            <a:r>
              <a:rPr lang="en-US" b="1" dirty="0">
                <a:solidFill>
                  <a:schemeClr val="bg1"/>
                </a:solidFill>
                <a:latin typeface="Montserrat" panose="020B0604020202020204" charset="-52"/>
              </a:rPr>
              <a:t>.</a:t>
            </a:r>
            <a:r>
              <a:rPr lang="en-US" b="1" dirty="0" err="1">
                <a:solidFill>
                  <a:schemeClr val="bg1"/>
                </a:solidFill>
                <a:latin typeface="Montserrat" panose="020B0604020202020204" charset="-52"/>
              </a:rPr>
              <a:t>xlsx</a:t>
            </a:r>
            <a:endParaRPr lang="ru-RU" b="1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cxnSp>
        <p:nvCxnSpPr>
          <p:cNvPr id="9" name="Соединительная линия уступом 8"/>
          <p:cNvCxnSpPr>
            <a:stCxn id="23" idx="3"/>
            <a:endCxn id="30" idx="0"/>
          </p:cNvCxnSpPr>
          <p:nvPr/>
        </p:nvCxnSpPr>
        <p:spPr>
          <a:xfrm>
            <a:off x="4043558" y="2132432"/>
            <a:ext cx="2052442" cy="336770"/>
          </a:xfrm>
          <a:prstGeom prst="bentConnector2">
            <a:avLst/>
          </a:prstGeom>
          <a:ln w="88900">
            <a:solidFill>
              <a:srgbClr val="23376A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Соединительная линия уступом 42"/>
          <p:cNvCxnSpPr/>
          <p:nvPr/>
        </p:nvCxnSpPr>
        <p:spPr>
          <a:xfrm>
            <a:off x="7642688" y="3416650"/>
            <a:ext cx="2052442" cy="336770"/>
          </a:xfrm>
          <a:prstGeom prst="bentConnector2">
            <a:avLst/>
          </a:prstGeom>
          <a:ln w="88900">
            <a:solidFill>
              <a:srgbClr val="23376A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Рисунок 5" descr="Изображение выглядит как текст, круг, логотип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7BC862-F05F-6B63-8865-1B63DD9099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7492" cy="1037492"/>
          </a:xfrm>
          <a:prstGeom prst="rect">
            <a:avLst/>
          </a:prstGeom>
        </p:spPr>
      </p:pic>
      <p:pic>
        <p:nvPicPr>
          <p:cNvPr id="47" name="Рисунок 46" descr="Изображение выглядит как снимок экрана, Графика, символ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C4ADA6D-5650-A6CE-8A86-9329C5E1BD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06" y="5895657"/>
            <a:ext cx="873287" cy="873287"/>
          </a:xfrm>
          <a:prstGeom prst="rect">
            <a:avLst/>
          </a:prstGeom>
        </p:spPr>
      </p:pic>
      <p:pic>
        <p:nvPicPr>
          <p:cNvPr id="49" name="Рисунок 48" descr="Изображение выглядит как логотип, символ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7C6584-E28C-86C0-36CC-274E502D90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06" y="5895657"/>
            <a:ext cx="873287" cy="873287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8139D21F-4C87-D394-14CC-1FC34AF398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48" y="5920505"/>
            <a:ext cx="840788" cy="840788"/>
          </a:xfrm>
          <a:prstGeom prst="rect">
            <a:avLst/>
          </a:prstGeom>
        </p:spPr>
      </p:pic>
      <p:pic>
        <p:nvPicPr>
          <p:cNvPr id="66" name="Рисунок 65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91597E-F3E5-AF45-9DCB-DED364227A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39" y="5848689"/>
            <a:ext cx="960074" cy="960074"/>
          </a:xfrm>
          <a:prstGeom prst="rect">
            <a:avLst/>
          </a:prstGeom>
        </p:spPr>
      </p:pic>
      <p:pic>
        <p:nvPicPr>
          <p:cNvPr id="64" name="Рисунок 63" descr="Изображение выглядит как логотип, Графика, белый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B7A381-3F69-297F-389F-B4C0A64E48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39" y="5849094"/>
            <a:ext cx="960074" cy="960074"/>
          </a:xfrm>
          <a:prstGeom prst="rect">
            <a:avLst/>
          </a:prstGeom>
        </p:spPr>
      </p:pic>
      <p:pic>
        <p:nvPicPr>
          <p:cNvPr id="70" name="Рисунок 69" descr="Изображение выглядит как символ, снимок экрана, линия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34ABA3B-7FEE-DCDA-B654-0F3757D511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6" y="5895657"/>
            <a:ext cx="873287" cy="873287"/>
          </a:xfrm>
          <a:prstGeom prst="rect">
            <a:avLst/>
          </a:prstGeom>
        </p:spPr>
      </p:pic>
      <p:pic>
        <p:nvPicPr>
          <p:cNvPr id="68" name="Рисунок 67" descr="Изображение выглядит как текст, символ, Шрифт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E504C0-B5E7-8E5D-9B67-AED39327D4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5" y="5888003"/>
            <a:ext cx="873287" cy="873287"/>
          </a:xfrm>
          <a:prstGeom prst="rect">
            <a:avLst/>
          </a:prstGeom>
        </p:spPr>
      </p:pic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B1E426D7-EFDF-66A8-A3E5-390034C09E4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43" y="5888004"/>
            <a:ext cx="873287" cy="873287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E888E592-36BC-D92D-4CBA-0B13BF3D0EC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44" y="5888006"/>
            <a:ext cx="873287" cy="873287"/>
          </a:xfrm>
          <a:prstGeom prst="rect">
            <a:avLst/>
          </a:prstGeom>
        </p:spPr>
      </p:pic>
      <p:sp>
        <p:nvSpPr>
          <p:cNvPr id="73" name="Овал 72">
            <a:extLst>
              <a:ext uri="{FF2B5EF4-FFF2-40B4-BE49-F238E27FC236}">
                <a16:creationId xmlns:a16="http://schemas.microsoft.com/office/drawing/2014/main" id="{5AA3C33C-D5C0-DA0C-568E-A01423BB4183}"/>
              </a:ext>
            </a:extLst>
          </p:cNvPr>
          <p:cNvSpPr/>
          <p:nvPr/>
        </p:nvSpPr>
        <p:spPr>
          <a:xfrm>
            <a:off x="2038078" y="5165919"/>
            <a:ext cx="1402352" cy="1402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4" name="Рисунок 53" descr="Изображение выглядит как График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7DBD46-EADF-1794-20D9-4D4CBB4572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12" y="5470535"/>
            <a:ext cx="982684" cy="982684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174" y="5949115"/>
            <a:ext cx="751061" cy="751061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5" t="22262" r="26158" b="34163"/>
          <a:stretch/>
        </p:blipFill>
        <p:spPr>
          <a:xfrm>
            <a:off x="10995589" y="0"/>
            <a:ext cx="1196411" cy="111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33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5830191"/>
            <a:ext cx="12192000" cy="1035496"/>
          </a:xfrm>
          <a:prstGeom prst="rect">
            <a:avLst/>
          </a:prstGeom>
          <a:solidFill>
            <a:srgbClr val="2A4D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4" name="TextBox 3"/>
          <p:cNvSpPr txBox="1"/>
          <p:nvPr/>
        </p:nvSpPr>
        <p:spPr>
          <a:xfrm>
            <a:off x="3274875" y="199363"/>
            <a:ext cx="5642250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267" b="1" dirty="0">
                <a:solidFill>
                  <a:srgbClr val="23376A"/>
                </a:solidFill>
                <a:latin typeface="Montserrat" panose="020B0604020202020204" charset="-52"/>
              </a:rPr>
              <a:t>Извлечение данных</a:t>
            </a: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1160452" y="1680854"/>
            <a:ext cx="4355323" cy="2686535"/>
          </a:xfrm>
          <a:prstGeom prst="roundRect">
            <a:avLst/>
          </a:prstGeom>
          <a:solidFill>
            <a:srgbClr val="11192F"/>
          </a:solidFill>
          <a:ln w="38100">
            <a:solidFill>
              <a:srgbClr val="233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Montserrat" panose="020B0604020202020204" charset="-52"/>
              </a:rPr>
              <a:t>PDF </a:t>
            </a:r>
            <a:r>
              <a:rPr lang="ru-RU" sz="2400" dirty="0">
                <a:latin typeface="Montserrat" panose="020B0604020202020204" charset="-52"/>
              </a:rPr>
              <a:t>передается</a:t>
            </a:r>
            <a:r>
              <a:rPr lang="en-US" sz="2400" dirty="0">
                <a:latin typeface="Montserrat" panose="020B0604020202020204" charset="-52"/>
              </a:rPr>
              <a:t> </a:t>
            </a:r>
            <a:r>
              <a:rPr lang="ru-RU" sz="2400" dirty="0">
                <a:latin typeface="Montserrat" panose="020B0604020202020204" charset="-52"/>
              </a:rPr>
              <a:t>в</a:t>
            </a:r>
            <a:r>
              <a:rPr lang="en-US" sz="2400" dirty="0">
                <a:latin typeface="Montserrat" panose="020B0604020202020204" charset="-52"/>
              </a:rPr>
              <a:t> </a:t>
            </a:r>
            <a:r>
              <a:rPr lang="en-US" sz="2400" dirty="0" err="1">
                <a:latin typeface="Montserrat" panose="020B0604020202020204" charset="-52"/>
              </a:rPr>
              <a:t>PaddleOCR</a:t>
            </a:r>
            <a:r>
              <a:rPr lang="en-US" sz="2400" dirty="0">
                <a:latin typeface="Montserrat" panose="020B0604020202020204" charset="-52"/>
              </a:rPr>
              <a:t>. </a:t>
            </a:r>
            <a:r>
              <a:rPr lang="en-US" sz="2400" dirty="0" err="1">
                <a:latin typeface="Montserrat" panose="020B0604020202020204" charset="-52"/>
              </a:rPr>
              <a:t>PaddleOCR</a:t>
            </a:r>
            <a:r>
              <a:rPr lang="en-US" sz="2400" dirty="0">
                <a:latin typeface="Montserrat" panose="020B0604020202020204" charset="-52"/>
              </a:rPr>
              <a:t> </a:t>
            </a:r>
            <a:r>
              <a:rPr lang="ru-RU" sz="2400" dirty="0">
                <a:latin typeface="Montserrat" panose="020B0604020202020204" charset="-52"/>
              </a:rPr>
              <a:t>возвращает текст, </a:t>
            </a: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</a:rPr>
              <a:t>полученный</a:t>
            </a:r>
            <a:r>
              <a:rPr lang="ru-RU" sz="2400" dirty="0">
                <a:latin typeface="Montserrat" panose="020B0604020202020204" charset="-52"/>
              </a:rPr>
              <a:t> из </a:t>
            </a:r>
            <a:r>
              <a:rPr lang="en-US" sz="2400" dirty="0">
                <a:latin typeface="Montserrat" panose="020B0604020202020204" charset="-52"/>
              </a:rPr>
              <a:t>pdf </a:t>
            </a:r>
            <a:r>
              <a:rPr lang="ru-RU" sz="2400" dirty="0">
                <a:latin typeface="Montserrat" panose="020B0604020202020204" charset="-52"/>
              </a:rPr>
              <a:t>файла</a:t>
            </a:r>
          </a:p>
        </p:txBody>
      </p:sp>
      <p:sp>
        <p:nvSpPr>
          <p:cNvPr id="44" name="Скругленный прямоугольник 43"/>
          <p:cNvSpPr/>
          <p:nvPr/>
        </p:nvSpPr>
        <p:spPr>
          <a:xfrm>
            <a:off x="7114107" y="1680853"/>
            <a:ext cx="4355323" cy="2686535"/>
          </a:xfrm>
          <a:prstGeom prst="roundRect">
            <a:avLst/>
          </a:prstGeom>
          <a:solidFill>
            <a:srgbClr val="11192F"/>
          </a:solidFill>
          <a:ln w="38100">
            <a:solidFill>
              <a:srgbClr val="233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latin typeface="Montserrat" panose="020B0604020202020204" charset="-52"/>
              </a:rPr>
              <a:t>Текст паспорта передается </a:t>
            </a:r>
            <a:r>
              <a:rPr lang="en-US" sz="2400" dirty="0">
                <a:latin typeface="Montserrat" panose="020B0604020202020204" charset="-52"/>
              </a:rPr>
              <a:t>LLM – qwen2.5:7b. </a:t>
            </a:r>
            <a:r>
              <a:rPr lang="ru-RU" sz="2400" dirty="0">
                <a:latin typeface="Montserrat" panose="020B0604020202020204" charset="-52"/>
              </a:rPr>
              <a:t>Модель извлекает из текста все данные, которые соответствуют необходимым полям</a:t>
            </a:r>
          </a:p>
        </p:txBody>
      </p:sp>
      <p:pic>
        <p:nvPicPr>
          <p:cNvPr id="6" name="Рисунок 5" descr="Изображение выглядит как текст, круг, логотип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779F2C3-580E-8A24-98ED-2FBF889979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7492" cy="103749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FDEEB7A-30A8-E73A-E433-A7928DF86C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48" y="5920505"/>
            <a:ext cx="840788" cy="840788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B73683-5F7F-3696-A114-C88FD15E39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39" y="5848689"/>
            <a:ext cx="960074" cy="960074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логотип, Графика, белый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A046F6-3EBB-50A0-7B4E-1B44112E38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39" y="5849094"/>
            <a:ext cx="960074" cy="960074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символ, снимок экрана, линия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83C5D86-244A-806A-9357-43418B41DA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6" y="5895657"/>
            <a:ext cx="873287" cy="873287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символ, Шрифт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8D1104-AE20-6F1D-C127-F57DE923E9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5" y="5888003"/>
            <a:ext cx="873287" cy="87328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6408BA8-E544-144C-9C1E-FBB19001E38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43" y="5888004"/>
            <a:ext cx="873287" cy="87328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05782C8-2494-7FAE-389A-1E380D220B8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44" y="5888006"/>
            <a:ext cx="873287" cy="873287"/>
          </a:xfrm>
          <a:prstGeom prst="rect">
            <a:avLst/>
          </a:prstGeom>
        </p:spPr>
      </p:pic>
      <p:sp>
        <p:nvSpPr>
          <p:cNvPr id="19" name="Овал 18">
            <a:extLst>
              <a:ext uri="{FF2B5EF4-FFF2-40B4-BE49-F238E27FC236}">
                <a16:creationId xmlns:a16="http://schemas.microsoft.com/office/drawing/2014/main" id="{B017D073-6A60-CD11-5B3B-04ABF89D6B29}"/>
              </a:ext>
            </a:extLst>
          </p:cNvPr>
          <p:cNvSpPr/>
          <p:nvPr/>
        </p:nvSpPr>
        <p:spPr>
          <a:xfrm>
            <a:off x="3600552" y="5165919"/>
            <a:ext cx="1402352" cy="1402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8" name="Рисунок 7" descr="Изображение выглядит как снимок экрана, Графика, символ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5CA047-72E1-E2E2-7516-49C7290FEAC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266" y="5284262"/>
            <a:ext cx="1128854" cy="1128854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График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63B6508-EACB-AB62-0293-C218C41452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885" y="5920506"/>
            <a:ext cx="747544" cy="74754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7AD3EA1-3C7B-1AB4-A7E7-70EBADCDD7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884" y="5920505"/>
            <a:ext cx="747544" cy="747544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174" y="5949115"/>
            <a:ext cx="751061" cy="751061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5" t="22262" r="26158" b="34163"/>
          <a:stretch/>
        </p:blipFill>
        <p:spPr>
          <a:xfrm>
            <a:off x="10995589" y="0"/>
            <a:ext cx="1196411" cy="111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0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5830191"/>
            <a:ext cx="12192000" cy="1035496"/>
          </a:xfrm>
          <a:prstGeom prst="rect">
            <a:avLst/>
          </a:prstGeom>
          <a:solidFill>
            <a:srgbClr val="2A4D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4" name="TextBox 3"/>
          <p:cNvSpPr txBox="1"/>
          <p:nvPr/>
        </p:nvSpPr>
        <p:spPr>
          <a:xfrm>
            <a:off x="3338113" y="200464"/>
            <a:ext cx="5553508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267" b="1" dirty="0">
                <a:solidFill>
                  <a:srgbClr val="23376A"/>
                </a:solidFill>
                <a:latin typeface="Montserrat" panose="020B0604020202020204" charset="-52"/>
              </a:rPr>
              <a:t>Загрузка паспортов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182" y="1102294"/>
            <a:ext cx="7937395" cy="4123725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круг, логотип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A5D7F3-C9AC-F97C-1AF4-AC742A2A65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7492" cy="103749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25D027D-6DD7-D083-B290-1ED57CDC89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48" y="5920505"/>
            <a:ext cx="840788" cy="840788"/>
          </a:xfrm>
          <a:prstGeom prst="rect">
            <a:avLst/>
          </a:prstGeom>
        </p:spPr>
      </p:pic>
      <p:pic>
        <p:nvPicPr>
          <p:cNvPr id="29" name="Рисунок 28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708FAC-2E98-FFA3-A902-05207C49D8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39" y="5848689"/>
            <a:ext cx="960074" cy="960074"/>
          </a:xfrm>
          <a:prstGeom prst="rect">
            <a:avLst/>
          </a:prstGeom>
        </p:spPr>
      </p:pic>
      <p:pic>
        <p:nvPicPr>
          <p:cNvPr id="30" name="Рисунок 29" descr="Изображение выглядит как логотип, Графика, белый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ADD08D-7DB7-E040-23B8-E5BCBAB466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39" y="5849094"/>
            <a:ext cx="960074" cy="960074"/>
          </a:xfrm>
          <a:prstGeom prst="rect">
            <a:avLst/>
          </a:prstGeom>
        </p:spPr>
      </p:pic>
      <p:pic>
        <p:nvPicPr>
          <p:cNvPr id="36" name="Рисунок 35" descr="Изображение выглядит как символ, снимок экрана, линия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9BF3C4-F86E-93A6-74C8-C9D4CE1E54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6" y="5895657"/>
            <a:ext cx="873287" cy="873287"/>
          </a:xfrm>
          <a:prstGeom prst="rect">
            <a:avLst/>
          </a:prstGeom>
        </p:spPr>
      </p:pic>
      <p:pic>
        <p:nvPicPr>
          <p:cNvPr id="43" name="Рисунок 42" descr="Изображение выглядит как текст, символ, Шрифт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407E1B8-720D-5345-B6BA-4BD7DFABEA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5" y="5888003"/>
            <a:ext cx="873287" cy="873287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CE642F72-E43F-B2F6-8FE9-CF875194E7D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43" y="5888004"/>
            <a:ext cx="873287" cy="873287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DBBA339F-62A8-CE63-14BD-6233AEC2482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44" y="5888006"/>
            <a:ext cx="873287" cy="873287"/>
          </a:xfrm>
          <a:prstGeom prst="rect">
            <a:avLst/>
          </a:prstGeom>
        </p:spPr>
      </p:pic>
      <p:sp>
        <p:nvSpPr>
          <p:cNvPr id="46" name="Овал 45">
            <a:extLst>
              <a:ext uri="{FF2B5EF4-FFF2-40B4-BE49-F238E27FC236}">
                <a16:creationId xmlns:a16="http://schemas.microsoft.com/office/drawing/2014/main" id="{BB494BDB-F48A-7D57-565A-827D2E88BE8A}"/>
              </a:ext>
            </a:extLst>
          </p:cNvPr>
          <p:cNvSpPr/>
          <p:nvPr/>
        </p:nvSpPr>
        <p:spPr>
          <a:xfrm>
            <a:off x="5322822" y="5165919"/>
            <a:ext cx="1402352" cy="1402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48" name="Рисунок 47" descr="Изображение выглядит как График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78CDE0-D761-EC3B-234E-88785ABBC0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885" y="5920506"/>
            <a:ext cx="747544" cy="747544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FD8D9DED-BC95-8BC5-B83C-DA3DB062A9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884" y="5920505"/>
            <a:ext cx="747544" cy="747544"/>
          </a:xfrm>
          <a:prstGeom prst="rect">
            <a:avLst/>
          </a:prstGeom>
        </p:spPr>
      </p:pic>
      <p:pic>
        <p:nvPicPr>
          <p:cNvPr id="50" name="Рисунок 49" descr="Изображение выглядит как снимок экрана, Графика, символ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C94B8E-08DF-0566-C128-56819A5272A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06" y="5895657"/>
            <a:ext cx="873287" cy="873287"/>
          </a:xfrm>
          <a:prstGeom prst="rect">
            <a:avLst/>
          </a:prstGeom>
        </p:spPr>
      </p:pic>
      <p:pic>
        <p:nvPicPr>
          <p:cNvPr id="51" name="Рисунок 50" descr="Изображение выглядит как логотип, символ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6D1238D-3EAE-0C8A-0077-03888E49935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06" y="5895657"/>
            <a:ext cx="873287" cy="873287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767" y="5356907"/>
            <a:ext cx="1000461" cy="100046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5" t="22262" r="26158" b="34163"/>
          <a:stretch/>
        </p:blipFill>
        <p:spPr>
          <a:xfrm>
            <a:off x="10995589" y="0"/>
            <a:ext cx="1196411" cy="111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975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5830191"/>
            <a:ext cx="12192000" cy="1035496"/>
          </a:xfrm>
          <a:prstGeom prst="rect">
            <a:avLst/>
          </a:prstGeom>
          <a:solidFill>
            <a:srgbClr val="2A4D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4" name="TextBox 3"/>
          <p:cNvSpPr txBox="1"/>
          <p:nvPr/>
        </p:nvSpPr>
        <p:spPr>
          <a:xfrm>
            <a:off x="1771429" y="162364"/>
            <a:ext cx="8658268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267" b="1" dirty="0">
                <a:solidFill>
                  <a:srgbClr val="23376A"/>
                </a:solidFill>
                <a:latin typeface="Montserrat" panose="020B0604020202020204" charset="-52"/>
              </a:rPr>
              <a:t>Просмотр и изменение данных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481" y="1063866"/>
            <a:ext cx="7797038" cy="4056896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круг, логотип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D4EF05-A782-DD4F-3A7D-A3D2D89A3B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7492" cy="103749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F342271-606E-4E78-7082-5B24730764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48" y="5920505"/>
            <a:ext cx="840788" cy="840788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символ, снимок экрана, линия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F6A582-5507-970E-28F9-11B337D39B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6" y="5895657"/>
            <a:ext cx="873287" cy="873287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символ, Шрифт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B75E2A-C99F-388C-B45E-0077888175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5" y="5888003"/>
            <a:ext cx="873287" cy="87328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A3F52FC-0B18-C40D-656F-97C9FE8F319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43" y="5888004"/>
            <a:ext cx="873287" cy="87328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6FC025-0ACE-F2C1-8E97-73C15FED83A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44" y="5888006"/>
            <a:ext cx="873287" cy="873287"/>
          </a:xfrm>
          <a:prstGeom prst="rect">
            <a:avLst/>
          </a:prstGeom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50AD37E9-EE95-4C3C-E849-E1EFE269B4F9}"/>
              </a:ext>
            </a:extLst>
          </p:cNvPr>
          <p:cNvSpPr/>
          <p:nvPr/>
        </p:nvSpPr>
        <p:spPr>
          <a:xfrm>
            <a:off x="7027338" y="5165919"/>
            <a:ext cx="1402352" cy="1402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19" name="Рисунок 18" descr="Изображение выглядит как График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132F4A4-D00B-4364-D7C6-D85CD50D12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885" y="5920506"/>
            <a:ext cx="747544" cy="74754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23066A1-62B7-3CA0-8670-1F2A675C3A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884" y="5920505"/>
            <a:ext cx="747544" cy="747544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F851CF5-ED00-E61D-23A8-F4169063DF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534" y="5323023"/>
            <a:ext cx="1129960" cy="1129960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снимок экрана, Графика, символ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AD4E47-F284-A1EC-0AA1-7E6BD84387E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06" y="5895657"/>
            <a:ext cx="873287" cy="873287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логотип, символ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0F4015-E253-6A0D-DBB5-C1E4551EE23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06" y="5895657"/>
            <a:ext cx="873287" cy="873287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174" y="5949115"/>
            <a:ext cx="751061" cy="751061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5" t="22262" r="26158" b="34163"/>
          <a:stretch/>
        </p:blipFill>
        <p:spPr>
          <a:xfrm>
            <a:off x="10995589" y="0"/>
            <a:ext cx="1196411" cy="111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5830191"/>
            <a:ext cx="12192000" cy="1035496"/>
          </a:xfrm>
          <a:prstGeom prst="rect">
            <a:avLst/>
          </a:prstGeom>
          <a:solidFill>
            <a:srgbClr val="2A4D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4" name="TextBox 3"/>
          <p:cNvSpPr txBox="1"/>
          <p:nvPr/>
        </p:nvSpPr>
        <p:spPr>
          <a:xfrm>
            <a:off x="3684025" y="124966"/>
            <a:ext cx="4823949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267" b="1" dirty="0">
                <a:solidFill>
                  <a:srgbClr val="23376A"/>
                </a:solidFill>
                <a:latin typeface="Montserrat" panose="020B0604020202020204" charset="-52"/>
              </a:rPr>
              <a:t>Выгрузка в </a:t>
            </a:r>
            <a:r>
              <a:rPr lang="en-US" sz="4267" b="1" dirty="0">
                <a:solidFill>
                  <a:srgbClr val="23376A"/>
                </a:solidFill>
                <a:latin typeface="Montserrat" panose="020B0604020202020204" charset="-52"/>
              </a:rPr>
              <a:t>Excel</a:t>
            </a:r>
            <a:endParaRPr lang="ru-RU" sz="4267" b="1" dirty="0">
              <a:solidFill>
                <a:srgbClr val="23376A"/>
              </a:solidFill>
              <a:latin typeface="Montserrat" panose="020B0604020202020204" charset="-52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" y="911352"/>
            <a:ext cx="12191238" cy="234300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b="54251"/>
          <a:stretch/>
        </p:blipFill>
        <p:spPr>
          <a:xfrm>
            <a:off x="369077" y="2790180"/>
            <a:ext cx="10050720" cy="1268079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круг, логотип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FEAD9D-8A14-2FA3-9254-8757DD9280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7492" cy="103749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E45C826-39CA-B093-373A-676B5CC84D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48" y="5920505"/>
            <a:ext cx="840788" cy="840788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4C556F-4FDD-AC0C-72AA-3AF8DD4C1B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39" y="5848689"/>
            <a:ext cx="960074" cy="960074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логотип, Графика, белый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E14233-D790-5AE8-0B65-6A2B92D82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39" y="5849094"/>
            <a:ext cx="960074" cy="96007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0F48C93-B674-CCFB-57D5-F033EDFDF54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43" y="5888004"/>
            <a:ext cx="873287" cy="87328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9835601-6EDC-82D7-1F23-C1841383C94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244" y="5888006"/>
            <a:ext cx="873287" cy="873287"/>
          </a:xfrm>
          <a:prstGeom prst="rect">
            <a:avLst/>
          </a:prstGeom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D231A30D-3176-0D5D-8B88-913190F3C535}"/>
              </a:ext>
            </a:extLst>
          </p:cNvPr>
          <p:cNvSpPr/>
          <p:nvPr/>
        </p:nvSpPr>
        <p:spPr>
          <a:xfrm>
            <a:off x="8785125" y="5165919"/>
            <a:ext cx="1402352" cy="1402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19" name="Рисунок 18" descr="Изображение выглядит как График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892E3A-3FB5-D9F1-F79B-DE772936BD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885" y="5920506"/>
            <a:ext cx="747544" cy="74754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E7A6740-055C-68C3-38A9-71FEB1DE1B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884" y="5920505"/>
            <a:ext cx="747544" cy="747544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символ, снимок экрана, линия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F18B5F-D79F-FFEA-6BD6-749DC7FE46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017" y="5349347"/>
            <a:ext cx="1035496" cy="1035496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снимок экрана, Графика, символ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77939D-423B-7AC7-CD77-C527FC39E56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06" y="5895657"/>
            <a:ext cx="873287" cy="873287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логотип, символ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4E5AFC-6DD9-44DA-9EED-50AD8619C5E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06" y="5895657"/>
            <a:ext cx="873287" cy="873287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174" y="5949115"/>
            <a:ext cx="751061" cy="751061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5" t="22262" r="26158" b="34163"/>
          <a:stretch/>
        </p:blipFill>
        <p:spPr>
          <a:xfrm>
            <a:off x="10995589" y="0"/>
            <a:ext cx="1196411" cy="111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04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5830191"/>
            <a:ext cx="12192000" cy="1035496"/>
          </a:xfrm>
          <a:prstGeom prst="rect">
            <a:avLst/>
          </a:prstGeom>
          <a:solidFill>
            <a:srgbClr val="2A4D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4" name="TextBox 3"/>
          <p:cNvSpPr txBox="1"/>
          <p:nvPr/>
        </p:nvSpPr>
        <p:spPr>
          <a:xfrm>
            <a:off x="4756531" y="162364"/>
            <a:ext cx="2678938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67" b="1" dirty="0">
                <a:solidFill>
                  <a:srgbClr val="23376A"/>
                </a:solidFill>
                <a:latin typeface="Montserrat" panose="020B0604020202020204" charset="-52"/>
              </a:rPr>
              <a:t>Roadmap</a:t>
            </a:r>
            <a:endParaRPr lang="ru-RU" sz="4267" b="1" dirty="0">
              <a:solidFill>
                <a:srgbClr val="23376A"/>
              </a:solidFill>
              <a:latin typeface="Montserrat" panose="020B0604020202020204" charset="-52"/>
            </a:endParaRP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1586891" y="1709739"/>
            <a:ext cx="9012248" cy="2686535"/>
          </a:xfrm>
          <a:prstGeom prst="roundRect">
            <a:avLst/>
          </a:prstGeom>
          <a:solidFill>
            <a:srgbClr val="11192F"/>
          </a:solidFill>
          <a:ln w="38100">
            <a:solidFill>
              <a:srgbClr val="233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latin typeface="Montserrat" panose="020B0604020202020204" charset="-52"/>
              </a:rPr>
              <a:t>Есть готовый код для интеграции </a:t>
            </a:r>
            <a:r>
              <a:rPr lang="en-US" sz="2400" dirty="0">
                <a:latin typeface="Montserrat" panose="020B0604020202020204" charset="-52"/>
              </a:rPr>
              <a:t>Visual Language Model. </a:t>
            </a:r>
            <a:r>
              <a:rPr lang="ru-RU" sz="2400" dirty="0">
                <a:latin typeface="Montserrat" panose="020B0604020202020204" charset="-52"/>
              </a:rPr>
              <a:t>Таким способом данные получаются с большей точностью. Но к сожалению наши компьютеры не могут потянуть такую нагрузку. Основная проблема на данном этапе – преобразование </a:t>
            </a:r>
            <a:r>
              <a:rPr lang="en-US" sz="2400" dirty="0">
                <a:latin typeface="Montserrat" panose="020B0604020202020204" charset="-52"/>
              </a:rPr>
              <a:t>pdf </a:t>
            </a:r>
            <a:r>
              <a:rPr lang="ru-RU" sz="2400" dirty="0">
                <a:latin typeface="Montserrat" panose="020B0604020202020204" charset="-52"/>
              </a:rPr>
              <a:t>файлов в текст. Текст получается искаженным, есть много шумов.</a:t>
            </a:r>
          </a:p>
        </p:txBody>
      </p:sp>
      <p:pic>
        <p:nvPicPr>
          <p:cNvPr id="5" name="Рисунок 4" descr="Изображение выглядит как текст, круг, логотип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D79798-4EA1-7996-8730-BBFBDA1BFE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7492" cy="103749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CDB26B-7F64-F806-882C-4A271BAEC7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48" y="5920505"/>
            <a:ext cx="840788" cy="840788"/>
          </a:xfrm>
          <a:prstGeom prst="rect">
            <a:avLst/>
          </a:prstGeom>
        </p:spPr>
      </p:pic>
      <p:pic>
        <p:nvPicPr>
          <p:cNvPr id="9" name="Рисунок 8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ECAB4C0-C79C-BC09-A313-B81F92B1FC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39" y="5848689"/>
            <a:ext cx="960074" cy="960074"/>
          </a:xfrm>
          <a:prstGeom prst="rect">
            <a:avLst/>
          </a:prstGeom>
        </p:spPr>
      </p:pic>
      <p:pic>
        <p:nvPicPr>
          <p:cNvPr id="10" name="Рисунок 9" descr="Изображение выглядит как логотип, Графика, белый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C71170-674D-855F-AEEF-E09C62FCC6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39" y="5849094"/>
            <a:ext cx="960074" cy="960074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символ, снимок экрана, линия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844E7B-CC0A-18CD-C3A7-8F20E8507E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6" y="5895657"/>
            <a:ext cx="873287" cy="873287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имвол, Шрифт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582207-7213-8E58-D641-FAE84A59D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85" y="5888003"/>
            <a:ext cx="873287" cy="873287"/>
          </a:xfrm>
          <a:prstGeom prst="rect">
            <a:avLst/>
          </a:prstGeom>
        </p:spPr>
      </p:pic>
      <p:sp>
        <p:nvSpPr>
          <p:cNvPr id="15" name="Овал 14">
            <a:extLst>
              <a:ext uri="{FF2B5EF4-FFF2-40B4-BE49-F238E27FC236}">
                <a16:creationId xmlns:a16="http://schemas.microsoft.com/office/drawing/2014/main" id="{483080DD-93E7-25E4-F764-7CDB3F02FAAE}"/>
              </a:ext>
            </a:extLst>
          </p:cNvPr>
          <p:cNvSpPr/>
          <p:nvPr/>
        </p:nvSpPr>
        <p:spPr>
          <a:xfrm>
            <a:off x="10383111" y="5165919"/>
            <a:ext cx="1402352" cy="1402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17" name="Рисунок 16" descr="Изображение выглядит как График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B3A092-6276-2D08-F1CA-0EFD802FEB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885" y="5920506"/>
            <a:ext cx="747544" cy="74754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2CC10E2-8BB1-4FAD-8EFF-281B9AB638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884" y="5920505"/>
            <a:ext cx="747544" cy="74754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C7C7BAC-C0E3-3F0F-20BC-E4871DA4467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154" y="5368773"/>
            <a:ext cx="1103463" cy="1103463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снимок экрана, Графика, символ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F0ABC8-367B-4F22-40A8-2947DE42E74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06" y="5895657"/>
            <a:ext cx="873287" cy="873287"/>
          </a:xfrm>
          <a:prstGeom prst="rect">
            <a:avLst/>
          </a:prstGeom>
        </p:spPr>
      </p:pic>
      <p:pic>
        <p:nvPicPr>
          <p:cNvPr id="20" name="Рисунок 19" descr="Изображение выглядит как логотип, символ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DC992F-03CA-2E1C-1908-130332B4BDC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06" y="5895657"/>
            <a:ext cx="873287" cy="87328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174" y="5949115"/>
            <a:ext cx="751061" cy="751061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5" t="22262" r="26158" b="34163"/>
          <a:stretch/>
        </p:blipFill>
        <p:spPr>
          <a:xfrm>
            <a:off x="10995589" y="0"/>
            <a:ext cx="1196411" cy="111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454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165</Words>
  <Application>Microsoft Office PowerPoint</Application>
  <PresentationFormat>Широкоэкранный</PresentationFormat>
  <Paragraphs>28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Montserrat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George Mkrtchian</dc:creator>
  <cp:lastModifiedBy>George Mkrtchian</cp:lastModifiedBy>
  <cp:revision>11</cp:revision>
  <dcterms:created xsi:type="dcterms:W3CDTF">2026-04-19T19:22:19Z</dcterms:created>
  <dcterms:modified xsi:type="dcterms:W3CDTF">2026-04-19T21:45:08Z</dcterms:modified>
</cp:coreProperties>
</file>